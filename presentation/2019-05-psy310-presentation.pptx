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59" r:id="rId7"/>
    <p:sldId id="268" r:id="rId8"/>
    <p:sldId id="260" r:id="rId9"/>
    <p:sldId id="261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3"/>
    <p:restoredTop sz="94694"/>
  </p:normalViewPr>
  <p:slideViewPr>
    <p:cSldViewPr snapToGrid="0" snapToObjects="1">
      <p:cViewPr>
        <p:scale>
          <a:sx n="117" d="100"/>
          <a:sy n="117" d="100"/>
        </p:scale>
        <p:origin x="171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Bonobo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C1-Djembe</c:v>
                </c:pt>
                <c:pt idx="1">
                  <c:v>C2-Qin</c:v>
                </c:pt>
                <c:pt idx="2">
                  <c:v>C3-Gamelan Gongs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524</c:v>
                </c:pt>
                <c:pt idx="1">
                  <c:v>113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1-244E-9E3A-432AE208BA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Hylobatidate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C1-Djembe</c:v>
                </c:pt>
                <c:pt idx="1">
                  <c:v>C2-Qin</c:v>
                </c:pt>
                <c:pt idx="2">
                  <c:v>C3-Gamelan Gongs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102</c:v>
                </c:pt>
                <c:pt idx="1">
                  <c:v>437</c:v>
                </c:pt>
                <c:pt idx="2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1-244E-9E3A-432AE208BA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Siamang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C1-Djembe</c:v>
                </c:pt>
                <c:pt idx="1">
                  <c:v>C2-Qin</c:v>
                </c:pt>
                <c:pt idx="2">
                  <c:v>C3-Gamelan Gongs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135</c:v>
                </c:pt>
                <c:pt idx="1">
                  <c:v>146</c:v>
                </c:pt>
                <c:pt idx="2">
                  <c:v>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C1-244E-9E3A-432AE208B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9467311"/>
        <c:axId val="1359464767"/>
      </c:barChart>
      <c:catAx>
        <c:axId val="13594673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000" dirty="0"/>
                  <a:t>Musical</a:t>
                </a:r>
                <a:r>
                  <a:rPr lang="en-US" altLang="ja-JP" sz="2000" baseline="0" dirty="0"/>
                  <a:t> Stimulus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59464767"/>
        <c:crosses val="autoZero"/>
        <c:auto val="1"/>
        <c:lblAlgn val="ctr"/>
        <c:lblOffset val="100"/>
        <c:noMultiLvlLbl val="0"/>
      </c:catAx>
      <c:valAx>
        <c:axId val="1359464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000" dirty="0"/>
                  <a:t>Mean</a:t>
                </a:r>
                <a:r>
                  <a:rPr lang="en-US" altLang="ja-JP" sz="2000" baseline="0" dirty="0"/>
                  <a:t> Response Time (min)</a:t>
                </a:r>
                <a:endParaRPr lang="ja-JP" altLang="en-US" sz="2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59467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Bonobo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C1-Djembe</c:v>
                </c:pt>
                <c:pt idx="1">
                  <c:v>C2-Qin</c:v>
                </c:pt>
                <c:pt idx="2">
                  <c:v>C3-Gamelan Gongs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524</c:v>
                </c:pt>
                <c:pt idx="1">
                  <c:v>113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1-244E-9E3A-432AE208BA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Hylobatidate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C1-Djembe</c:v>
                </c:pt>
                <c:pt idx="1">
                  <c:v>C2-Qin</c:v>
                </c:pt>
                <c:pt idx="2">
                  <c:v>C3-Gamelan Gongs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102</c:v>
                </c:pt>
                <c:pt idx="1">
                  <c:v>437</c:v>
                </c:pt>
                <c:pt idx="2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1-244E-9E3A-432AE208BA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Siamang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C1-Djembe</c:v>
                </c:pt>
                <c:pt idx="1">
                  <c:v>C2-Qin</c:v>
                </c:pt>
                <c:pt idx="2">
                  <c:v>C3-Gamelan Gongs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135</c:v>
                </c:pt>
                <c:pt idx="1">
                  <c:v>146</c:v>
                </c:pt>
                <c:pt idx="2">
                  <c:v>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C1-244E-9E3A-432AE208B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9467311"/>
        <c:axId val="1359464767"/>
      </c:barChart>
      <c:catAx>
        <c:axId val="13594673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000" dirty="0"/>
                  <a:t>Musical</a:t>
                </a:r>
                <a:r>
                  <a:rPr lang="en-US" altLang="ja-JP" sz="2000" baseline="0" dirty="0"/>
                  <a:t> Stimulus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59464767"/>
        <c:crosses val="autoZero"/>
        <c:auto val="1"/>
        <c:lblAlgn val="ctr"/>
        <c:lblOffset val="100"/>
        <c:noMultiLvlLbl val="0"/>
      </c:catAx>
      <c:valAx>
        <c:axId val="1359464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000" dirty="0"/>
                  <a:t>Mean</a:t>
                </a:r>
                <a:r>
                  <a:rPr lang="en-US" altLang="ja-JP" sz="2000" baseline="0" dirty="0"/>
                  <a:t> Response Time (min)</a:t>
                </a:r>
                <a:endParaRPr lang="ja-JP" altLang="en-US" sz="2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59467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AF43760-CC53-A645-8DD9-42FA5EDF47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5000"/>
            <a:extLst/>
          </a:blip>
          <a:srcRect t="1205" b="843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1215565-E2CF-A44E-8688-B219B2A9F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Environmental influence on Musical Preference 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6C93AF3-AB89-4744-BBA4-7FD71E606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RYUICHI HAMAKAWA</a:t>
            </a:r>
          </a:p>
          <a:p>
            <a:r>
              <a:rPr lang="en-US" altLang="ja-JP" dirty="0"/>
              <a:t>STONY BROOK UNIVERSITY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1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49977-980F-3843-B3CA-42000B7D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97935"/>
          </a:xfrm>
        </p:spPr>
        <p:txBody>
          <a:bodyPr anchor="ctr"/>
          <a:lstStyle/>
          <a:p>
            <a:r>
              <a:rPr kumimoji="1" lang="en-US" altLang="ja-JP" dirty="0"/>
              <a:t>INTRODUCTION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2DDE07-ED6A-8544-A468-DFBFF875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809" y="1594884"/>
            <a:ext cx="10260602" cy="4805915"/>
          </a:xfrm>
        </p:spPr>
        <p:txBody>
          <a:bodyPr/>
          <a:lstStyle/>
          <a:p>
            <a:r>
              <a:rPr kumimoji="1" lang="en-US" altLang="ja-JP" sz="2400" b="1" dirty="0"/>
              <a:t>PREVIOUS STUDIES AND LITERATURE REVIEW</a:t>
            </a:r>
          </a:p>
          <a:p>
            <a:pPr marL="0" indent="0">
              <a:buNone/>
            </a:pPr>
            <a:r>
              <a:rPr lang="en-US" altLang="ja-JP" dirty="0"/>
              <a:t>	simple sound stimuli designing, single breed</a:t>
            </a:r>
            <a:endParaRPr kumimoji="1" lang="en-US" altLang="ja-JP" dirty="0"/>
          </a:p>
          <a:p>
            <a:r>
              <a:rPr lang="en-US" altLang="ja-JP" sz="2400" b="1" dirty="0"/>
              <a:t>RESEARCH QUESTION</a:t>
            </a:r>
          </a:p>
          <a:p>
            <a:pPr marL="0" indent="0">
              <a:buNone/>
            </a:pPr>
            <a:r>
              <a:rPr lang="en-US" altLang="ja-JP" dirty="0"/>
              <a:t>	does the environmental influence effects the forming of musical preference?</a:t>
            </a:r>
          </a:p>
          <a:p>
            <a:pPr marL="0" indent="0">
              <a:buNone/>
            </a:pPr>
            <a:r>
              <a:rPr lang="en-US" altLang="ja-JP" dirty="0"/>
              <a:t>	does it influence different species in a same way? (such as primate)</a:t>
            </a:r>
          </a:p>
          <a:p>
            <a:r>
              <a:rPr lang="en-US" altLang="ja-JP" sz="2400" b="1" dirty="0"/>
              <a:t>HYPOTHESES</a:t>
            </a:r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en-US" altLang="ja-JP" dirty="0">
                <a:effectLst/>
              </a:rPr>
              <a:t>environment has influence on traits such as musical preference in nonhuman 	social animals.</a:t>
            </a:r>
            <a:r>
              <a:rPr lang="ja-JP" altLang="ja-JP">
                <a:effectLst/>
              </a:rPr>
              <a:t> 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89764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49977-980F-3843-B3CA-42000B7D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97935"/>
          </a:xfrm>
        </p:spPr>
        <p:txBody>
          <a:bodyPr anchor="ctr"/>
          <a:lstStyle/>
          <a:p>
            <a:r>
              <a:rPr kumimoji="1" lang="en-US" altLang="ja-JP" dirty="0"/>
              <a:t>method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2DDE07-ED6A-8544-A468-DFBFF875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809" y="1594884"/>
            <a:ext cx="10260602" cy="4805915"/>
          </a:xfrm>
        </p:spPr>
        <p:txBody>
          <a:bodyPr/>
          <a:lstStyle/>
          <a:p>
            <a:r>
              <a:rPr kumimoji="1" lang="en-US" altLang="ja-JP" sz="2400" b="1" dirty="0"/>
              <a:t>PARTICIPANTS</a:t>
            </a:r>
          </a:p>
          <a:p>
            <a:pPr marL="0" indent="0">
              <a:buNone/>
            </a:pPr>
            <a:r>
              <a:rPr lang="en-US" altLang="ja-JP" sz="2400" dirty="0"/>
              <a:t>	a group of 5 from each three different no-human primate breeds</a:t>
            </a:r>
            <a:endParaRPr kumimoji="1" lang="en-US" altLang="ja-JP" sz="2400" dirty="0"/>
          </a:p>
          <a:p>
            <a:r>
              <a:rPr lang="en-US" altLang="ja-JP" sz="2400" b="1" dirty="0"/>
              <a:t>MEASURES</a:t>
            </a:r>
          </a:p>
          <a:p>
            <a:pPr marL="0" indent="0">
              <a:buNone/>
            </a:pPr>
            <a:r>
              <a:rPr lang="en-US" altLang="ja-JP" sz="2400" dirty="0"/>
              <a:t>	two way analysis of variance(</a:t>
            </a:r>
            <a:r>
              <a:rPr lang="en-US" altLang="ja-JP" sz="2400" dirty="0" err="1"/>
              <a:t>anova</a:t>
            </a:r>
            <a:r>
              <a:rPr lang="en-US" altLang="ja-JP" sz="2400" dirty="0"/>
              <a:t>)</a:t>
            </a:r>
          </a:p>
          <a:p>
            <a:r>
              <a:rPr kumimoji="1" lang="en-US" altLang="ja-JP" sz="2400" b="1" dirty="0"/>
              <a:t>PROCEDURE</a:t>
            </a:r>
          </a:p>
          <a:p>
            <a:pPr marL="0" indent="0">
              <a:buNone/>
            </a:pPr>
            <a:r>
              <a:rPr lang="en-US" altLang="ja-JP" sz="2400" dirty="0"/>
              <a:t>	12 </a:t>
            </a:r>
            <a:r>
              <a:rPr lang="en-US" altLang="ja-JP" sz="2400" dirty="0" err="1"/>
              <a:t>hrs</a:t>
            </a:r>
            <a:r>
              <a:rPr lang="en-US" altLang="ja-JP" sz="2400" dirty="0"/>
              <a:t> (sunrise to sunset)</a:t>
            </a:r>
          </a:p>
          <a:p>
            <a:pPr marL="0" indent="0">
              <a:buNone/>
            </a:pPr>
            <a:r>
              <a:rPr lang="en-US" altLang="ja-JP" sz="2400" dirty="0"/>
              <a:t>	study room with stimuli </a:t>
            </a:r>
          </a:p>
          <a:p>
            <a:pPr marL="0" indent="0">
              <a:buNone/>
            </a:pPr>
            <a:r>
              <a:rPr lang="en-US" altLang="ja-JP" sz="2400" dirty="0"/>
              <a:t>	measure the mean response time (mean time spent on each location)</a:t>
            </a:r>
          </a:p>
        </p:txBody>
      </p:sp>
    </p:spTree>
    <p:extLst>
      <p:ext uri="{BB962C8B-B14F-4D97-AF65-F5344CB8AC3E}">
        <p14:creationId xmlns:p14="http://schemas.microsoft.com/office/powerpoint/2010/main" val="3860352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A59776-5948-400C-9935-7464561E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3749977-980F-3843-B3CA-42000B7D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53" y="609600"/>
            <a:ext cx="3108960" cy="236261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PARTICIPANTS</a:t>
            </a:r>
            <a:br>
              <a:rPr kumimoji="1" lang="en-US" altLang="ja-JP" sz="2800" dirty="0"/>
            </a:br>
            <a:br>
              <a:rPr kumimoji="1" lang="en-US" altLang="ja-JP" sz="2800" dirty="0"/>
            </a:br>
            <a:r>
              <a:rPr kumimoji="1" lang="en-US" altLang="ja-JP" sz="1800" dirty="0"/>
              <a:t>15 </a:t>
            </a:r>
            <a:r>
              <a:rPr lang="en-US" altLang="ja-JP" sz="1800" dirty="0"/>
              <a:t>PRIMATES</a:t>
            </a:r>
            <a:br>
              <a:rPr lang="en-US" altLang="ja-JP" sz="1800" dirty="0"/>
            </a:br>
            <a:r>
              <a:rPr lang="en-US" altLang="ja-JP" sz="1800" dirty="0"/>
              <a:t>3 GROUPS OF 5</a:t>
            </a:r>
            <a:br>
              <a:rPr kumimoji="1" lang="en-US" altLang="ja-JP" sz="1800" dirty="0"/>
            </a:br>
            <a:r>
              <a:rPr kumimoji="1" lang="en-US" altLang="ja-JP" sz="1800" dirty="0"/>
              <a:t>MEAN AGE : 11.2(</a:t>
            </a:r>
            <a:r>
              <a:rPr kumimoji="1" lang="en-US" altLang="ja-JP" sz="1800" i="1" dirty="0"/>
              <a:t>SD</a:t>
            </a:r>
            <a:r>
              <a:rPr kumimoji="1" lang="en-US" altLang="ja-JP" sz="1800" dirty="0"/>
              <a:t>=1.26)</a:t>
            </a:r>
            <a:br>
              <a:rPr kumimoji="1" lang="en-US" altLang="ja-JP" sz="1800" dirty="0"/>
            </a:br>
            <a:r>
              <a:rPr kumimoji="1" lang="en-US" altLang="ja-JP" sz="1800" dirty="0"/>
              <a:t>FEMALE&gt;MALE</a:t>
            </a:r>
            <a:endParaRPr kumimoji="1" lang="ja-JP" altLang="en-US" sz="18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2DDE07-ED6A-8544-A468-DFBFF875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923" y="609600"/>
            <a:ext cx="6628583" cy="2362611"/>
          </a:xfrm>
        </p:spPr>
        <p:txBody>
          <a:bodyPr>
            <a:normAutofit/>
          </a:bodyPr>
          <a:lstStyle/>
          <a:p>
            <a:r>
              <a:rPr lang="en-US" altLang="ja-JP" sz="1800" b="1" dirty="0">
                <a:solidFill>
                  <a:srgbClr val="FFFF00"/>
                </a:solidFill>
              </a:rPr>
              <a:t>BONOBO</a:t>
            </a:r>
            <a:r>
              <a:rPr lang="en-US" altLang="ja-JP" sz="1800" dirty="0"/>
              <a:t>-AFRICA-</a:t>
            </a:r>
            <a:r>
              <a:rPr lang="en-US" altLang="ja-JP" sz="1800" dirty="0">
                <a:solidFill>
                  <a:srgbClr val="92D050"/>
                </a:solidFill>
              </a:rPr>
              <a:t>Djembe  </a:t>
            </a:r>
          </a:p>
          <a:p>
            <a:r>
              <a:rPr kumimoji="1" lang="en-US" altLang="ja-JP" sz="1800" b="1" dirty="0">
                <a:solidFill>
                  <a:srgbClr val="FFFF00"/>
                </a:solidFill>
              </a:rPr>
              <a:t>HYLOBATIDAE</a:t>
            </a:r>
            <a:r>
              <a:rPr kumimoji="1" lang="en-US" altLang="ja-JP" sz="1800" dirty="0"/>
              <a:t>-CHINA-</a:t>
            </a:r>
            <a:r>
              <a:rPr kumimoji="1" lang="en-US" altLang="ja-JP" sz="1800" dirty="0">
                <a:solidFill>
                  <a:srgbClr val="92D050"/>
                </a:solidFill>
              </a:rPr>
              <a:t>Qin</a:t>
            </a:r>
          </a:p>
          <a:p>
            <a:r>
              <a:rPr lang="en-US" altLang="ja-JP" sz="1800" b="1" dirty="0">
                <a:solidFill>
                  <a:srgbClr val="FFFF00"/>
                </a:solidFill>
              </a:rPr>
              <a:t>SIAMANG</a:t>
            </a:r>
            <a:r>
              <a:rPr lang="en-US" altLang="ja-JP" sz="1800" dirty="0"/>
              <a:t>-SUMATRA-</a:t>
            </a:r>
            <a:r>
              <a:rPr lang="en-US" altLang="ja-JP" sz="1800" dirty="0">
                <a:solidFill>
                  <a:srgbClr val="92D050"/>
                </a:solidFill>
              </a:rPr>
              <a:t>Gamelan Gongs</a:t>
            </a:r>
            <a:endParaRPr kumimoji="1" lang="en-US" altLang="ja-JP" sz="1800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altLang="ja-JP" sz="1800" dirty="0"/>
              <a:t>a group of 5 from each three different no-human primate breeds</a:t>
            </a:r>
            <a:endParaRPr kumimoji="1" lang="en-US" altLang="ja-JP" sz="18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0B117EE-B8CE-C948-9DDA-AC8F313B6E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36" r="10591" b="5"/>
          <a:stretch/>
        </p:blipFill>
        <p:spPr>
          <a:xfrm>
            <a:off x="4264674" y="3225959"/>
            <a:ext cx="3340921" cy="267788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6084A26-AB92-4C44-B20E-C1DB6EFB55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692" r="5424" b="-2"/>
          <a:stretch/>
        </p:blipFill>
        <p:spPr>
          <a:xfrm>
            <a:off x="463557" y="3209834"/>
            <a:ext cx="3337560" cy="267788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3CB501E-8896-CE44-B763-CAF5B61A94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903" r="19778" b="-3"/>
          <a:stretch/>
        </p:blipFill>
        <p:spPr>
          <a:xfrm>
            <a:off x="7927327" y="3225959"/>
            <a:ext cx="3337560" cy="267788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79866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49977-980F-3843-B3CA-42000B7D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97935"/>
          </a:xfrm>
        </p:spPr>
        <p:txBody>
          <a:bodyPr anchor="ctr"/>
          <a:lstStyle/>
          <a:p>
            <a:r>
              <a:rPr kumimoji="1" lang="en-US" altLang="ja-JP" dirty="0"/>
              <a:t>method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2DDE07-ED6A-8544-A468-DFBFF875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809" y="1594884"/>
            <a:ext cx="10260602" cy="4805915"/>
          </a:xfrm>
        </p:spPr>
        <p:txBody>
          <a:bodyPr/>
          <a:lstStyle/>
          <a:p>
            <a:r>
              <a:rPr kumimoji="1" lang="en-US" altLang="ja-JP" sz="2400" b="1" dirty="0"/>
              <a:t>PARTICIPANTS</a:t>
            </a:r>
          </a:p>
          <a:p>
            <a:pPr marL="0" indent="0">
              <a:buNone/>
            </a:pPr>
            <a:r>
              <a:rPr lang="en-US" altLang="ja-JP" sz="2400" dirty="0"/>
              <a:t>	a group of 5 from each three different no-human primate breeds</a:t>
            </a:r>
            <a:endParaRPr kumimoji="1" lang="en-US" altLang="ja-JP" sz="2400" dirty="0"/>
          </a:p>
          <a:p>
            <a:r>
              <a:rPr lang="en-US" altLang="ja-JP" sz="2400" b="1" dirty="0"/>
              <a:t>MEASURES</a:t>
            </a:r>
          </a:p>
          <a:p>
            <a:pPr marL="0" indent="0">
              <a:buNone/>
            </a:pPr>
            <a:r>
              <a:rPr lang="en-US" altLang="ja-JP" sz="2400" dirty="0"/>
              <a:t>	two way analysis of variance(</a:t>
            </a:r>
            <a:r>
              <a:rPr lang="en-US" altLang="ja-JP" sz="2400" dirty="0" err="1"/>
              <a:t>anova</a:t>
            </a:r>
            <a:r>
              <a:rPr lang="en-US" altLang="ja-JP" sz="2400" dirty="0"/>
              <a:t>)</a:t>
            </a:r>
          </a:p>
          <a:p>
            <a:r>
              <a:rPr kumimoji="1" lang="en-US" altLang="ja-JP" sz="2400" b="1" dirty="0"/>
              <a:t>PROCEDURE</a:t>
            </a:r>
          </a:p>
          <a:p>
            <a:pPr marL="0" indent="0">
              <a:buNone/>
            </a:pPr>
            <a:r>
              <a:rPr lang="en-US" altLang="ja-JP" sz="2400" dirty="0"/>
              <a:t>	12 </a:t>
            </a:r>
            <a:r>
              <a:rPr lang="en-US" altLang="ja-JP" sz="2400" dirty="0" err="1"/>
              <a:t>hrs</a:t>
            </a:r>
            <a:r>
              <a:rPr lang="en-US" altLang="ja-JP" sz="2400" dirty="0"/>
              <a:t> (sunrise to sunset)</a:t>
            </a:r>
          </a:p>
          <a:p>
            <a:pPr marL="0" indent="0">
              <a:buNone/>
            </a:pPr>
            <a:r>
              <a:rPr lang="en-US" altLang="ja-JP" sz="2400" dirty="0"/>
              <a:t>	study room with stimuli </a:t>
            </a:r>
          </a:p>
          <a:p>
            <a:pPr marL="0" indent="0">
              <a:buNone/>
            </a:pPr>
            <a:r>
              <a:rPr lang="en-US" altLang="ja-JP" sz="2400" dirty="0"/>
              <a:t>	measure the mean response time (mean time spent on each location)</a:t>
            </a:r>
          </a:p>
        </p:txBody>
      </p:sp>
    </p:spTree>
    <p:extLst>
      <p:ext uri="{BB962C8B-B14F-4D97-AF65-F5344CB8AC3E}">
        <p14:creationId xmlns:p14="http://schemas.microsoft.com/office/powerpoint/2010/main" val="174510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6AC79-636D-4147-96A5-CECD7909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1835703" cy="1389321"/>
          </a:xfrm>
        </p:spPr>
        <p:txBody>
          <a:bodyPr/>
          <a:lstStyle/>
          <a:p>
            <a:r>
              <a:rPr kumimoji="1" lang="en-US" altLang="ja-JP" dirty="0"/>
              <a:t>RESULTS</a:t>
            </a:r>
            <a:endParaRPr kumimoji="1" lang="ja-JP" altLang="en-US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E78D3DF4-449C-444D-874F-70278E2A92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837632"/>
              </p:ext>
            </p:extLst>
          </p:nvPr>
        </p:nvGraphicFramePr>
        <p:xfrm>
          <a:off x="0" y="1998921"/>
          <a:ext cx="12191999" cy="4859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154B5D-0281-684C-8F93-BD64DF18AB2B}"/>
              </a:ext>
            </a:extLst>
          </p:cNvPr>
          <p:cNvSpPr txBox="1"/>
          <p:nvPr/>
        </p:nvSpPr>
        <p:spPr>
          <a:xfrm>
            <a:off x="3586715" y="704095"/>
            <a:ext cx="7995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Figure 1. </a:t>
            </a:r>
          </a:p>
          <a:p>
            <a:r>
              <a:rPr kumimoji="1" lang="en-US" altLang="ja-JP" sz="2400" dirty="0"/>
              <a:t>Levels of preference for different musical stimuli between nonhuman species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873442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6AC79-636D-4147-96A5-CECD7909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1835703" cy="1389321"/>
          </a:xfrm>
        </p:spPr>
        <p:txBody>
          <a:bodyPr/>
          <a:lstStyle/>
          <a:p>
            <a:r>
              <a:rPr kumimoji="1" lang="en-US" altLang="ja-JP" dirty="0"/>
              <a:t>RESULTS</a:t>
            </a:r>
            <a:endParaRPr kumimoji="1" lang="ja-JP" altLang="en-US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E78D3DF4-449C-444D-874F-70278E2A92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1998921"/>
          <a:ext cx="12191999" cy="4859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154B5D-0281-684C-8F93-BD64DF18AB2B}"/>
              </a:ext>
            </a:extLst>
          </p:cNvPr>
          <p:cNvSpPr txBox="1"/>
          <p:nvPr/>
        </p:nvSpPr>
        <p:spPr>
          <a:xfrm>
            <a:off x="2977116" y="704095"/>
            <a:ext cx="86052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2400" dirty="0"/>
              <a:t>Significant main effect of the stimuli</a:t>
            </a:r>
            <a:r>
              <a:rPr lang="en" altLang="ja-JP" sz="2400" b="1" dirty="0"/>
              <a:t>, </a:t>
            </a:r>
            <a:r>
              <a:rPr lang="en" altLang="ja-JP" sz="2400" b="1" i="1" dirty="0"/>
              <a:t>F</a:t>
            </a:r>
            <a:r>
              <a:rPr lang="en" altLang="ja-JP" sz="2400" b="1" dirty="0"/>
              <a:t>(2,12)</a:t>
            </a:r>
            <a:r>
              <a:rPr lang="en" altLang="ja-JP" sz="2400" b="1" i="1" dirty="0"/>
              <a:t>=</a:t>
            </a:r>
            <a:r>
              <a:rPr lang="en" altLang="ja-JP" sz="2400" b="1" i="1" dirty="0" err="1"/>
              <a:t>x.xx</a:t>
            </a:r>
            <a:r>
              <a:rPr lang="en" altLang="ja-JP" sz="2400" b="1" i="1" dirty="0"/>
              <a:t>, P&lt;.xx</a:t>
            </a:r>
            <a:r>
              <a:rPr lang="en" altLang="ja-JP" sz="2400" b="1" dirty="0"/>
              <a:t>. </a:t>
            </a:r>
            <a:r>
              <a:rPr lang="en" altLang="ja-JP" sz="2400" dirty="0"/>
              <a:t>Each primates group </a:t>
            </a:r>
            <a:r>
              <a:rPr lang="en" altLang="ja-JP" sz="2400" dirty="0" err="1"/>
              <a:t>prefered</a:t>
            </a:r>
            <a:r>
              <a:rPr lang="en" altLang="ja-JP" sz="2400" dirty="0"/>
              <a:t> music from the same origin over music from other regions.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15148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833064-0C3C-0948-840C-ABD128501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DISCUSSION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8DED17-96CE-5848-A13D-9E5F01157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ja-JP" sz="2800" dirty="0"/>
              <a:t>STUDY IDEA</a:t>
            </a:r>
          </a:p>
          <a:p>
            <a:pPr>
              <a:lnSpc>
                <a:spcPct val="150000"/>
              </a:lnSpc>
            </a:pPr>
            <a:r>
              <a:rPr kumimoji="1" lang="en-US" altLang="ja-JP" sz="2800" dirty="0"/>
              <a:t>PROS AND CONS</a:t>
            </a:r>
          </a:p>
          <a:p>
            <a:pPr>
              <a:lnSpc>
                <a:spcPct val="150000"/>
              </a:lnSpc>
            </a:pPr>
            <a:r>
              <a:rPr lang="en-US" altLang="ja-JP" sz="2800" dirty="0"/>
              <a:t>FUTURE DIRECTIONS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378836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B61BC-C482-F943-8963-0EE2AFAE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3047815" cy="1495647"/>
          </a:xfrm>
        </p:spPr>
        <p:txBody>
          <a:bodyPr/>
          <a:lstStyle/>
          <a:p>
            <a:r>
              <a:rPr kumimoji="1" lang="en-US" altLang="ja-JP" dirty="0"/>
              <a:t>STUDY IDEA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0A625C-83DD-B442-AF5A-99656BB27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2447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kumimoji="1" lang="en-US" altLang="ja-JP" sz="2800" b="1" dirty="0"/>
              <a:t>PURPOSE</a:t>
            </a:r>
          </a:p>
          <a:p>
            <a:pPr marL="0" indent="0">
              <a:buNone/>
            </a:pPr>
            <a:r>
              <a:rPr lang="en-US" altLang="ja-JP" sz="2400" dirty="0">
                <a:effectLst/>
                <a:latin typeface="+mj-lt"/>
              </a:rPr>
              <a:t>to test how environmental influence can affect the forming of </a:t>
            </a:r>
            <a:r>
              <a:rPr lang="en-US" altLang="ja-JP" sz="2400">
                <a:effectLst/>
                <a:latin typeface="+mj-lt"/>
              </a:rPr>
              <a:t>musical preference </a:t>
            </a:r>
            <a:r>
              <a:rPr lang="en-US" altLang="ja-JP" sz="2400" dirty="0">
                <a:effectLst/>
                <a:latin typeface="+mj-lt"/>
              </a:rPr>
              <a:t>in nonhuman primates</a:t>
            </a:r>
            <a:r>
              <a:rPr lang="ja-JP" altLang="ja-JP" sz="2400">
                <a:effectLst/>
                <a:latin typeface="+mj-lt"/>
              </a:rPr>
              <a:t> </a:t>
            </a:r>
            <a:endParaRPr lang="en-US" altLang="ja-JP" sz="2400" dirty="0">
              <a:effectLst/>
              <a:latin typeface="+mj-lt"/>
            </a:endParaRPr>
          </a:p>
          <a:p>
            <a:pPr marL="0" indent="0">
              <a:buNone/>
            </a:pPr>
            <a:r>
              <a:rPr lang="en-US" altLang="ja-JP" sz="2800" b="1" dirty="0"/>
              <a:t>ORIGINAL HYPOTHESES</a:t>
            </a:r>
            <a:endParaRPr lang="en-US" altLang="ja-JP" sz="2800" b="1" dirty="0">
              <a:effectLst/>
            </a:endParaRPr>
          </a:p>
          <a:p>
            <a:pPr marL="0" indent="0">
              <a:buNone/>
            </a:pPr>
            <a:r>
              <a:rPr lang="en-US" altLang="ja-JP" sz="2400" dirty="0">
                <a:effectLst/>
              </a:rPr>
              <a:t>nonhuman primates prefer musical stimuli from their own origins due to the environmental influence in the musical stimulus</a:t>
            </a:r>
          </a:p>
        </p:txBody>
      </p:sp>
    </p:spTree>
    <p:extLst>
      <p:ext uri="{BB962C8B-B14F-4D97-AF65-F5344CB8AC3E}">
        <p14:creationId xmlns:p14="http://schemas.microsoft.com/office/powerpoint/2010/main" val="813582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B61BC-C482-F943-8963-0EE2AFAE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4472578" cy="1495647"/>
          </a:xfrm>
        </p:spPr>
        <p:txBody>
          <a:bodyPr/>
          <a:lstStyle/>
          <a:p>
            <a:r>
              <a:rPr lang="en-US" altLang="ja-JP" dirty="0"/>
              <a:t>PROS AND CONS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DA6FD58E-4E2B-AA47-A0B0-0EF6FEE0E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05247"/>
            <a:ext cx="9905998" cy="4469724"/>
          </a:xfrm>
        </p:spPr>
        <p:txBody>
          <a:bodyPr>
            <a:normAutofit/>
          </a:bodyPr>
          <a:lstStyle/>
          <a:p>
            <a:r>
              <a:rPr lang="en-US" altLang="ja-JP" sz="2800" b="1" dirty="0"/>
              <a:t>PROS (STRENGTHS)</a:t>
            </a:r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en-US" altLang="ja-JP" sz="2400" dirty="0"/>
              <a:t>WELL DESIGNED MUSICAL STIMULI</a:t>
            </a:r>
          </a:p>
          <a:p>
            <a:pPr marL="0" indent="0">
              <a:buNone/>
            </a:pPr>
            <a:r>
              <a:rPr lang="en-US" altLang="ja-JP" sz="2400" dirty="0"/>
              <a:t>	STUDY ROOM WITH MINIMUM ARITIFICIAL OBJECTS</a:t>
            </a:r>
          </a:p>
          <a:p>
            <a:r>
              <a:rPr lang="en-US" altLang="ja-JP" sz="2800" b="1" dirty="0"/>
              <a:t>CONS (LIMITATIONS)</a:t>
            </a:r>
          </a:p>
          <a:p>
            <a:pPr marL="0" indent="0">
              <a:buNone/>
            </a:pPr>
            <a:r>
              <a:rPr lang="en-US" altLang="ja-JP" sz="2400" dirty="0"/>
              <a:t>	ANIMAL STUDY 	</a:t>
            </a:r>
          </a:p>
          <a:p>
            <a:pPr marL="0" indent="0">
              <a:buNone/>
            </a:pPr>
            <a:r>
              <a:rPr lang="en-US" altLang="ja-JP" sz="2400" dirty="0"/>
              <a:t>	LACK OF INDIVIDUAL INFORMATION OF EACH SUBJECT (PERSONALITY)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919787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B61BC-C482-F943-8963-0EE2AFAE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4217396" cy="1495647"/>
          </a:xfrm>
        </p:spPr>
        <p:txBody>
          <a:bodyPr/>
          <a:lstStyle/>
          <a:p>
            <a:r>
              <a:rPr kumimoji="1" lang="en-US" altLang="ja-JP" dirty="0"/>
              <a:t>FUTURE DIRECTIONS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EEDC4F84-D8E7-CE4C-8CB6-83DAA2EF0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ja-JP" sz="2400" dirty="0"/>
              <a:t>PSYCHOLOGY AND MUSIC</a:t>
            </a:r>
          </a:p>
          <a:p>
            <a:pPr>
              <a:lnSpc>
                <a:spcPct val="150000"/>
              </a:lnSpc>
            </a:pPr>
            <a:r>
              <a:rPr lang="en-US" altLang="ja-JP" sz="2400" dirty="0"/>
              <a:t>ANIMAL STUDY AND TREATMENT</a:t>
            </a:r>
          </a:p>
          <a:p>
            <a:pPr>
              <a:lnSpc>
                <a:spcPct val="150000"/>
              </a:lnSpc>
            </a:pPr>
            <a:r>
              <a:rPr lang="en-US" altLang="ja-JP" sz="2400" dirty="0"/>
              <a:t>HUMAN CULTURE AND ENVIRONMENT STUDY</a:t>
            </a:r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81941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メッシュ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168</Words>
  <Application>Microsoft Macintosh PowerPoint</Application>
  <PresentationFormat>ワイド画面</PresentationFormat>
  <Paragraphs>63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メッシュ</vt:lpstr>
      <vt:lpstr>Environmental influence on Musical Preference </vt:lpstr>
      <vt:lpstr>INTRODUCTION</vt:lpstr>
      <vt:lpstr>method</vt:lpstr>
      <vt:lpstr>PARTICIPANTS  15 PRIMATES 3 GROUPS OF 5 MEAN AGE : 11.2(SD=1.26) FEMALE&gt;MALE</vt:lpstr>
      <vt:lpstr>method</vt:lpstr>
      <vt:lpstr>RESULTS</vt:lpstr>
      <vt:lpstr>RESULTS</vt:lpstr>
      <vt:lpstr>DISCUSSION</vt:lpstr>
      <vt:lpstr>STUDY IDEA</vt:lpstr>
      <vt:lpstr>PROS AND CONS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influence on Musical Preference </dc:title>
  <dc:creator>Hamakawa, Ryuichi</dc:creator>
  <cp:lastModifiedBy>Hamakawa, Ryuichi</cp:lastModifiedBy>
  <cp:revision>8</cp:revision>
  <dcterms:created xsi:type="dcterms:W3CDTF">2019-05-06T17:59:34Z</dcterms:created>
  <dcterms:modified xsi:type="dcterms:W3CDTF">2019-05-06T19:38:43Z</dcterms:modified>
</cp:coreProperties>
</file>